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3672" cy="6858000"/>
          </a:xfrm>
          <a:prstGeom prst="rect">
            <a:avLst/>
          </a:prstGeom>
          <a:solidFill>
            <a:srgbClr val="EAF2FC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331720"/>
            <a:ext cx="2194560" cy="21945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8982" y="2968142"/>
            <a:ext cx="921715" cy="9217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9640" y="461772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28" y="4864608"/>
            <a:ext cx="329184" cy="3291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607040" y="914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1078992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○○중학교  ·  과학정보부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640080" y="187452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학내망 SEN스쿨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안내</a:t>
            </a:r>
            <a:endParaRPr lang="en-US" sz="5200" dirty="0"/>
          </a:p>
        </p:txBody>
      </p:sp>
      <p:sp>
        <p:nvSpPr>
          <p:cNvPr id="11" name="Text 6"/>
          <p:cNvSpPr/>
          <p:nvPr/>
        </p:nvSpPr>
        <p:spPr>
          <a:xfrm>
            <a:off x="640080" y="38862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아이디로 만나는 서울 교수학습 플랫폼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40080" y="5806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2026학년도 교직원 연수자료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1352" y="3840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○○중학교  ·  과학정보부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SEN스쿨로 전환하나요?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온라인학습터(sonline20) 계정이 2026년 종료될 예정으로, 서울특별시교육청의 통합 교수학습 플랫폼 SEN스쿨로 전환합니다.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4160520" cy="2331720"/>
          </a:xfrm>
          <a:prstGeom prst="roundRect">
            <a:avLst>
              <a:gd name="adj" fmla="val 4706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514600"/>
            <a:ext cx="868680" cy="868680"/>
          </a:xfrm>
          <a:prstGeom prst="ellipse">
            <a:avLst/>
          </a:prstGeom>
          <a:solidFill>
            <a:srgbClr val="FBE2E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757" y="2766517"/>
            <a:ext cx="364846" cy="3648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532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057400" y="28254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온라인학습터 (sonline20)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51560" y="3474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계정 사용 종료 예정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서비스마다 ID·비밀번호 따로 관리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본교 전출 시 용량 제한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184648" y="285750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3122676"/>
            <a:ext cx="384048" cy="3840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17920" y="2148840"/>
            <a:ext cx="4160520" cy="2331720"/>
          </a:xfrm>
          <a:prstGeom prst="roundRect">
            <a:avLst>
              <a:gd name="adj" fmla="val 4706"/>
            </a:avLst>
          </a:prstGeom>
          <a:solidFill>
            <a:srgbClr val="EAF2FC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114300" dist="38100" dir="5400000">
              <a:srgbClr val="9DB4D4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0" y="251460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597" y="2766517"/>
            <a:ext cx="364846" cy="36484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35240" y="2532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635240" y="28254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SEN스쿨 (senedu.kr)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629400" y="3474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아이디로 통합 로그인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인증서로 학교에서 개별 가입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진급·전학 시 최신 정보 자동 반영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0080" y="4800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학교관리자 신청 시 인증서로 교직원·학생 계정을 개별 발급합니다.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1352" y="3840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○○중학교  ·  과학정보부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SEN스쿨이란?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서울특별시교육청이 제공하는 교수학습 플랫폼으로, 한 번의 로그인으로 민간 에듀테크 서비스와 교육청 진단 도구를 편리하게 이용할 수 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41448"/>
            <a:ext cx="658368" cy="658368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047" y="2632375"/>
            <a:ext cx="276515" cy="2765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4048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아이디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212080" y="2404872"/>
            <a:ext cx="6062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개의 SEN스쿨 ID로 중학교 입학부터 고등학교 졸업까지 사용합니다.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347472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0120" y="3675888"/>
            <a:ext cx="658368" cy="658368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047" y="3866815"/>
            <a:ext cx="276515" cy="2765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36393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통합 연계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212080" y="3639312"/>
            <a:ext cx="6062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구글 클래스룸·네이버 웨일클래스 등 여러 플랫폼을 골라 활용할 수 있습니다.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40080" y="470916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910328"/>
            <a:ext cx="658368" cy="658368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047" y="5101255"/>
            <a:ext cx="276515" cy="27651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74520" y="48737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 학습 분석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5212080" y="4873752"/>
            <a:ext cx="6062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이력을 누적해 강점·약점을 점검하고 맞춤형 학습을 지원합니다.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1352" y="3840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○○중학교  ·  과학정보부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ID, 모든 서비스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SEN스쿨 ID 하나로 대표적인 두 가지 학습 공간에 바로 접속할 수 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3108960"/>
          </a:xfrm>
          <a:prstGeom prst="roundRect">
            <a:avLst>
              <a:gd name="adj" fmla="val 3529"/>
            </a:avLst>
          </a:prstGeom>
          <a:solidFill>
            <a:srgbClr val="EAF2FC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114300" dist="38100" dir="5400000">
              <a:srgbClr val="9DB4D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66060" y="25603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7754" y="2852014"/>
            <a:ext cx="422453" cy="42245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7033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구글 워크스페이스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143000" y="42062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구글 클래스룸, 문서, 드라이브 등 구글의 학습 도구를 학교 계정으로 이용합니다.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91072" y="2148840"/>
            <a:ext cx="5257800" cy="3108960"/>
          </a:xfrm>
          <a:prstGeom prst="roundRect">
            <a:avLst>
              <a:gd name="adj" fmla="val 3529"/>
            </a:avLst>
          </a:prstGeom>
          <a:solidFill>
            <a:srgbClr val="EAF2FC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114300" dist="38100" dir="5400000">
              <a:srgbClr val="9DB4D4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17052" y="25603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746" y="2852014"/>
            <a:ext cx="422453" cy="42245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65392" y="37033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 웨일스페이스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793992" y="42062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웨일 브라우저 기반의 웨일클래스·웨일북 등 협업 학습 환경을 이용합니다.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이용 가능한 서비스는 학교 환경 및 연계 정책에 따라 달라질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1352" y="3840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○○중학교  ·  과학정보부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연계 에듀테크 서비스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SEN스쿨 계정으로 다양한 빅테크·에듀테크 학습 도구와 진단 서비스를 연결해 사용합니다.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92424" cy="1417320"/>
          </a:xfrm>
          <a:prstGeom prst="roundRect">
            <a:avLst>
              <a:gd name="adj" fmla="val 6452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578608"/>
            <a:ext cx="822960" cy="822960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346" y="2817266"/>
            <a:ext cx="345643" cy="3456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38528" y="256032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학습관리 (LMS)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938528" y="303580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개설·과제·소통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98264" y="2286000"/>
            <a:ext cx="3392424" cy="1417320"/>
          </a:xfrm>
          <a:prstGeom prst="roundRect">
            <a:avLst>
              <a:gd name="adj" fmla="val 6452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90872" y="2578608"/>
            <a:ext cx="822960" cy="822960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530" y="2817266"/>
            <a:ext cx="345643" cy="3456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96712" y="256032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코스웨어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5696712" y="303580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맞춤형 문제·콘텐츠 추천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56448" y="2286000"/>
            <a:ext cx="3392424" cy="1417320"/>
          </a:xfrm>
          <a:prstGeom prst="roundRect">
            <a:avLst>
              <a:gd name="adj" fmla="val 6452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49056" y="2578608"/>
            <a:ext cx="822960" cy="822960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7714" y="2817266"/>
            <a:ext cx="345643" cy="3456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54896" y="256032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저작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9454896" y="303580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자료 제작·공유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4023360"/>
            <a:ext cx="3392424" cy="1417320"/>
          </a:xfrm>
          <a:prstGeom prst="roundRect">
            <a:avLst>
              <a:gd name="adj" fmla="val 6452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2688" y="4315968"/>
            <a:ext cx="822960" cy="822960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4554626"/>
            <a:ext cx="345643" cy="34564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38528" y="429768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평가·진단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1938528" y="477316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형성평가·서·논술형 평가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398264" y="4023360"/>
            <a:ext cx="3392424" cy="1417320"/>
          </a:xfrm>
          <a:prstGeom prst="roundRect">
            <a:avLst>
              <a:gd name="adj" fmla="val 6452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90872" y="4315968"/>
            <a:ext cx="822960" cy="822960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530" y="4554626"/>
            <a:ext cx="345643" cy="34564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96712" y="429768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미래역량 진단</a:t>
            </a:r>
            <a:endParaRPr lang="en-US" sz="1650" dirty="0"/>
          </a:p>
        </p:txBody>
      </p:sp>
      <p:sp>
        <p:nvSpPr>
          <p:cNvPr id="29" name="Text 22"/>
          <p:cNvSpPr/>
          <p:nvPr/>
        </p:nvSpPr>
        <p:spPr>
          <a:xfrm>
            <a:off x="5696712" y="477316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문해력·수리력·AI 리터러시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8156448" y="4023360"/>
            <a:ext cx="3392424" cy="1417320"/>
          </a:xfrm>
          <a:prstGeom prst="roundRect">
            <a:avLst>
              <a:gd name="adj" fmla="val 6452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49056" y="4315968"/>
            <a:ext cx="822960" cy="822960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7714" y="4554626"/>
            <a:ext cx="345643" cy="34564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454896" y="429768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협업·기타</a:t>
            </a:r>
            <a:endParaRPr lang="en-US" sz="1650" dirty="0"/>
          </a:p>
        </p:txBody>
      </p:sp>
      <p:sp>
        <p:nvSpPr>
          <p:cNvPr id="34" name="Text 26"/>
          <p:cNvSpPr/>
          <p:nvPr/>
        </p:nvSpPr>
        <p:spPr>
          <a:xfrm>
            <a:off x="9454896" y="477316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화이트보드·퀴즈·협업 도구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1352" y="3840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○○중학교  ·  과학정보부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교사(교직원) 가입 절차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senedu.kr 접속 후 아래 순서대로 진행하면 가입이 완료되며, 학교관리자 승인 후 이용할 수 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452878" cy="2926080"/>
          </a:xfrm>
          <a:prstGeom prst="roundRect">
            <a:avLst>
              <a:gd name="adj" fmla="val 4473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46479" y="26060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546479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409319" y="3410712"/>
            <a:ext cx="914400" cy="914400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4495" y="367588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4434840"/>
            <a:ext cx="21785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접속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4818888"/>
            <a:ext cx="20871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senedu.kr 접속 후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‘공공기관/교직원 로그인’ 선택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534" y="3648456"/>
            <a:ext cx="292608" cy="2926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58718" y="2331720"/>
            <a:ext cx="2452878" cy="2926080"/>
          </a:xfrm>
          <a:prstGeom prst="roundRect">
            <a:avLst>
              <a:gd name="adj" fmla="val 4473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65117" y="26060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4365117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4227957" y="3410712"/>
            <a:ext cx="914400" cy="914400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133" y="367588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95878" y="4434840"/>
            <a:ext cx="21785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약관 동의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3641598" y="4818888"/>
            <a:ext cx="20871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이용약관·개인정보 항목을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확인하고 전체 동의</a:t>
            </a:r>
            <a:endParaRPr lang="en-US" sz="11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172" y="3648456"/>
            <a:ext cx="292608" cy="29260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277356" y="2331720"/>
            <a:ext cx="2452878" cy="2926080"/>
          </a:xfrm>
          <a:prstGeom prst="roundRect">
            <a:avLst>
              <a:gd name="adj" fmla="val 4473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183755" y="26060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17"/>
          <p:cNvSpPr/>
          <p:nvPr/>
        </p:nvSpPr>
        <p:spPr>
          <a:xfrm>
            <a:off x="7183755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Shape 18"/>
          <p:cNvSpPr/>
          <p:nvPr/>
        </p:nvSpPr>
        <p:spPr>
          <a:xfrm>
            <a:off x="7046595" y="3410712"/>
            <a:ext cx="914400" cy="914400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1771" y="3675888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14516" y="4434840"/>
            <a:ext cx="21785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간편 인증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6460236" y="4818888"/>
            <a:ext cx="20871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 정보 입력 → 인증 요청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인증 완료 확인</a:t>
            </a:r>
            <a:endParaRPr lang="en-US" sz="11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6810" y="3648456"/>
            <a:ext cx="292608" cy="29260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095994" y="2331720"/>
            <a:ext cx="2452878" cy="2926080"/>
          </a:xfrm>
          <a:prstGeom prst="roundRect">
            <a:avLst>
              <a:gd name="adj" fmla="val 4473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10002393" y="26060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3"/>
          <p:cNvSpPr/>
          <p:nvPr/>
        </p:nvSpPr>
        <p:spPr>
          <a:xfrm>
            <a:off x="10002393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Shape 24"/>
          <p:cNvSpPr/>
          <p:nvPr/>
        </p:nvSpPr>
        <p:spPr>
          <a:xfrm>
            <a:off x="9865233" y="3410712"/>
            <a:ext cx="914400" cy="914400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0409" y="3675888"/>
            <a:ext cx="384048" cy="38404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233154" y="4434840"/>
            <a:ext cx="21785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입력·완료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9278874" y="4818888"/>
            <a:ext cx="20871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정보(소속·나이스 등) 입력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가입 완료 → 관리자 승인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1352" y="3840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○○중학교  ·  과학정보부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2026학년도 가입 안내사항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804672"/>
          </a:xfrm>
          <a:prstGeom prst="roundRect">
            <a:avLst>
              <a:gd name="adj" fmla="val 10227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09344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0078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49047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교사(교직원)는 적격 회원 가입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983480" y="1490472"/>
            <a:ext cx="6336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간편 인증 또는 나이스(NEIS) 인증으로 본인 확인 후 가입합니다.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350008"/>
            <a:ext cx="10908792" cy="804672"/>
          </a:xfrm>
          <a:prstGeom prst="roundRect">
            <a:avLst>
              <a:gd name="adj" fmla="val 10227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2542032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63347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4231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ID 생성 규칙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983480" y="2423160"/>
            <a:ext cx="6336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 영문 이니셜 + 학번(학년·반·번호) 형식으로 생성합니다.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282696"/>
            <a:ext cx="10908792" cy="804672"/>
          </a:xfrm>
          <a:prstGeom prst="roundRect">
            <a:avLst>
              <a:gd name="adj" fmla="val 10227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47472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6616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35584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ID 예시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4983480" y="3355848"/>
            <a:ext cx="6336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1학년 2반 5번 홍길동  →  gd.hong10205 @ 학교도메인.sen.ms.kr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4215384"/>
            <a:ext cx="10908792" cy="804672"/>
          </a:xfrm>
          <a:prstGeom prst="roundRect">
            <a:avLst>
              <a:gd name="adj" fmla="val 10227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49884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28853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비밀번호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4983480" y="4288536"/>
            <a:ext cx="6336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최초 로그인 시 반드시 변경해야 합니다(학교관리자가 일괄 변경 가능).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40080" y="5148072"/>
            <a:ext cx="10908792" cy="804672"/>
          </a:xfrm>
          <a:prstGeom prst="roundRect">
            <a:avLst>
              <a:gd name="adj" fmla="val 10227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400" y="5340096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43153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22122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 변경 지원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983480" y="5221224"/>
            <a:ext cx="6336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학교관리자·담임교사·교과지도교사가 분실 시 초기화할 수 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1352" y="3840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○○중학교  ·  과학정보부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계정 안내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○○중학교 1~3학년 학생은 학교에서 발급한 SEN스쿨 계정으로 접속합니다.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66360" cy="3200400"/>
          </a:xfrm>
          <a:prstGeom prst="roundRect">
            <a:avLst>
              <a:gd name="adj" fmla="val 3429"/>
            </a:avLst>
          </a:prstGeom>
          <a:solidFill>
            <a:srgbClr val="EAF2FC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114300" dist="38100" dir="5400000">
              <a:srgbClr val="9DB4D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674620" y="251460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2831" y="283281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7490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접속 안내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97280" y="429768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접속 주소</a:t>
            </a:r>
            <a:endParaRPr lang="en-US" sz="14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senedu.kr</a:t>
            </a:r>
            <a:endParaRPr lang="en-US" sz="14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  ·  1~3학년 전체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2148840"/>
            <a:ext cx="5330952" cy="932688"/>
          </a:xfrm>
          <a:prstGeom prst="roundRect">
            <a:avLst>
              <a:gd name="adj" fmla="val 9804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350008"/>
            <a:ext cx="548640" cy="548640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509114"/>
            <a:ext cx="230429" cy="2304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267712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일괄 발급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223760" y="262432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담임선생님 안내에 따라 본인 계정을 확인합니다.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17920" y="3246120"/>
            <a:ext cx="5330952" cy="932688"/>
          </a:xfrm>
          <a:prstGeom prst="roundRect">
            <a:avLst>
              <a:gd name="adj" fmla="val 9804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447288"/>
            <a:ext cx="548640" cy="548640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058" y="3606394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23760" y="3364992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비밀번호 변경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223760" y="37216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로그인 시 안전한 비밀번호로 바꿉니다.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17920" y="4343400"/>
            <a:ext cx="5330952" cy="932688"/>
          </a:xfrm>
          <a:prstGeom prst="roundRect">
            <a:avLst>
              <a:gd name="adj" fmla="val 9804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73952" y="4544568"/>
            <a:ext cx="548640" cy="548640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058" y="4703674"/>
            <a:ext cx="230429" cy="2304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4462272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학습 접속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223760" y="481888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계정으로 연계 학습 도구에 접속합니다.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1352" y="3840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○○중학교  ·  과학정보부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 수집·이용 동의 안내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계정 생성을 위해 개인정보보호법 제15조·제17조에 따라 동의를 받습니다. 가정통신문과 함께 동의서를 안내해 주세요.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392424" cy="2788920"/>
          </a:xfrm>
          <a:prstGeom prst="roundRect">
            <a:avLst>
              <a:gd name="adj" fmla="val 3934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33372" y="2606040"/>
            <a:ext cx="1005840" cy="1005840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066" y="2897734"/>
            <a:ext cx="422453" cy="42245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74904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동의서 2종 안내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4251960"/>
            <a:ext cx="2660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 수집·이용·제3자 제공 동의서와 계정관리 위임 동의서를 안내·제출합니다.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8264" y="2240280"/>
            <a:ext cx="3392424" cy="2788920"/>
          </a:xfrm>
          <a:prstGeom prst="roundRect">
            <a:avLst>
              <a:gd name="adj" fmla="val 3934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91556" y="2606040"/>
            <a:ext cx="1005840" cy="1005840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250" y="2897734"/>
            <a:ext cx="422453" cy="42245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72584" y="374904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 14세 미만 학생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64024" y="4251960"/>
            <a:ext cx="2660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 14세 미만은 법정대리인(보호자) 동의가 필요합니다(주로 1학년 해당).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56448" y="2240280"/>
            <a:ext cx="3392424" cy="2788920"/>
          </a:xfrm>
          <a:prstGeom prst="roundRect">
            <a:avLst>
              <a:gd name="adj" fmla="val 3934"/>
            </a:avLst>
          </a:prstGeom>
          <a:solidFill>
            <a:srgbClr val="F4F8FE"/>
          </a:solidFill>
          <a:ln w="12700">
            <a:solidFill>
              <a:srgbClr val="CFE0F3"/>
            </a:solidFill>
            <a:prstDash val="solid"/>
          </a:ln>
          <a:effectLst>
            <a:outerShdw sx="100000" sy="100000" kx="0" ky="0" algn="bl" rotWithShape="0" blurRad="88900" dist="25400" dir="5400000">
              <a:srgbClr val="B8C9E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349740" y="2606040"/>
            <a:ext cx="1005840" cy="1005840"/>
          </a:xfrm>
          <a:prstGeom prst="ellipse">
            <a:avLst/>
          </a:prstGeom>
          <a:solidFill>
            <a:srgbClr val="DCEB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34" y="2897734"/>
            <a:ext cx="422453" cy="42245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30768" y="374904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계정관리 위임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522208" y="4251960"/>
            <a:ext cx="2660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교사가 계정 수정·비밀번호 초기화를 지원하도록 관리 권한 위임 절차를 거칩니다.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수집 항목은 최소한으로 제한되며, 동의는 거부할 수 있으나 일부 서비스 이용이 제한될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1352" y="3840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○○중학교  ·  과학정보부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계정 예시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계정(이메일)과 SEN스쿨 로그인 계정은 동일한 아이디 체계를 사용합니다. (예시)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3776472"/>
                <a:gridCol w="31089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학년·반·번호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이름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학교 계정 (@학교도메인.sen.ms.kr)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SEN스쿨 계정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1-2-05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홍길동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gd.hong10205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gd.hong10205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1-2-06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김서연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sy.kim10206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sy.kim10206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2-1-11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박지후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jh.park20111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jh.park20111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3-4-22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이도윤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dy.lee30422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dy.lee30422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아이디는 ‘이름 영문 이니셜 + 학번(학년·반·번호)’ 규칙의 예시이며, 실제 발급 형식은 학교 정책에 따릅니다.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86B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914400"/>
            <a:ext cx="3291840" cy="3291840"/>
          </a:xfrm>
          <a:prstGeom prst="ellipse">
            <a:avLst/>
          </a:prstGeom>
          <a:solidFill>
            <a:srgbClr val="1E4C8A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4206240"/>
            <a:ext cx="2560320" cy="2560320"/>
          </a:xfrm>
          <a:prstGeom prst="ellipse">
            <a:avLst/>
          </a:prstGeom>
          <a:solidFill>
            <a:srgbClr val="1E4C8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B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핵심만 기억하세요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SEN스쿨 운영 요약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50545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615184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4505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ID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023360" y="2450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중학교~고등학교 졸업까지 한 계정으로 통합 로그인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334670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45643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3291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교직원 가입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023360" y="3291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senedu.kr 접속 → 동의 → 인증 → 정보입력 → 관리자 승인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40080" y="418795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29768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41330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학생·개인정보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023360" y="41330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1~3학년 학교 발급, 만 14세 미만은 보호자 동의 필요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40080" y="548640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1E4C8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74243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548640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B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○○중학교 과학정보부  ·  접속 주소 senedu.kr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2026-06-28T14:47:15Z</dcterms:created>
  <dcterms:modified xsi:type="dcterms:W3CDTF">2026-06-28T14:47:15Z</dcterms:modified>
</cp:coreProperties>
</file>